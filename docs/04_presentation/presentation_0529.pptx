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24" r:id="rId1"/>
  </p:sldMasterIdLst>
  <p:notesMasterIdLst>
    <p:notesMasterId r:id="rId23"/>
  </p:notesMasterIdLst>
  <p:sldIdLst>
    <p:sldId id="256" r:id="rId2"/>
    <p:sldId id="257" r:id="rId3"/>
    <p:sldId id="258" r:id="rId4"/>
    <p:sldId id="261" r:id="rId5"/>
    <p:sldId id="262" r:id="rId6"/>
    <p:sldId id="259" r:id="rId7"/>
    <p:sldId id="274" r:id="rId8"/>
    <p:sldId id="263" r:id="rId9"/>
    <p:sldId id="273" r:id="rId10"/>
    <p:sldId id="275" r:id="rId11"/>
    <p:sldId id="260" r:id="rId12"/>
    <p:sldId id="264" r:id="rId13"/>
    <p:sldId id="276" r:id="rId14"/>
    <p:sldId id="265" r:id="rId15"/>
    <p:sldId id="277" r:id="rId16"/>
    <p:sldId id="266" r:id="rId17"/>
    <p:sldId id="278" r:id="rId18"/>
    <p:sldId id="270" r:id="rId19"/>
    <p:sldId id="271" r:id="rId20"/>
    <p:sldId id="272" r:id="rId21"/>
    <p:sldId id="27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5783" autoAdjust="0"/>
  </p:normalViewPr>
  <p:slideViewPr>
    <p:cSldViewPr snapToGrid="0">
      <p:cViewPr varScale="1">
        <p:scale>
          <a:sx n="45" d="100"/>
          <a:sy n="45" d="100"/>
        </p:scale>
        <p:origin x="1428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E90C4-E3F8-420F-8987-2A0187B796D5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9591DA-DCDE-4705-9DC5-EA1EEFFFE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2710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9591DA-DCDE-4705-9DC5-EA1EEFFFE5BE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962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作業順の選び方がよくなかった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9591DA-DCDE-4705-9DC5-EA1EEFFFE5BE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1660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知識が立体的になった</a:t>
            </a:r>
            <a:endParaRPr kumimoji="1" lang="en-US" altLang="ja-JP" dirty="0"/>
          </a:p>
          <a:p>
            <a:r>
              <a:rPr kumimoji="1" lang="ja-JP" altLang="en-US" dirty="0"/>
              <a:t>以前はコードの書き方</a:t>
            </a:r>
            <a:r>
              <a:rPr kumimoji="1" lang="en-US" altLang="ja-JP" dirty="0"/>
              <a:t>(if</a:t>
            </a:r>
            <a:r>
              <a:rPr kumimoji="1" lang="ja-JP" altLang="en-US" dirty="0"/>
              <a:t>文とかのパーツ</a:t>
            </a:r>
            <a:r>
              <a:rPr kumimoji="1" lang="en-US" altLang="ja-JP" dirty="0"/>
              <a:t>)</a:t>
            </a:r>
            <a:r>
              <a:rPr kumimoji="1" lang="ja-JP" altLang="en-US" dirty="0"/>
              <a:t>しかわからなかったのが、</a:t>
            </a:r>
            <a:r>
              <a:rPr kumimoji="1" lang="en-US" altLang="ja-JP" dirty="0"/>
              <a:t>Web</a:t>
            </a:r>
            <a:r>
              <a:rPr kumimoji="1" lang="ja-JP" altLang="en-US" dirty="0"/>
              <a:t>アプリを作るためにそれをどう組み合わせるのかがわかった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データの扱い方など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様々な視点から判断ができるエンジニアになりたいと思った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9591DA-DCDE-4705-9DC5-EA1EEFFFE5BE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2347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2AA173B-0ECA-4029-B07F-7B2E8BC9D6C3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F3F0378-51CF-4CB4-B26B-D0506873D8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0095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9721-7F17-4E67-ABFC-BD8F6351C0D2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07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FB924-F7E5-4D8E-ACF2-D56D26BAA3FD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6204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152CF-3069-4E11-8EDE-9F31F1993E37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0440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7664-CD6D-4B23-A51A-D2C116F037AF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4113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0889E-95C4-4A92-AFB8-0B971CF196A7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9823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DB288-3E7E-4D74-AD82-16601A4F7435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022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B5297-56E0-4FE9-9345-8B1C9474AA70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AF3F0378-51CF-4CB4-B26B-D0506873D8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366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66F79431-382B-4DB2-908C-732FC3DFC212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F3F0378-51CF-4CB4-B26B-D0506873D8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6974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B2DB-72BD-4540-99BA-741C17224D9D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1723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03802-AEAB-4247-B16A-A463F85F2265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286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44A08914-8A6F-4325-AD75-88D1B40A0130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AF3F0378-51CF-4CB4-B26B-D0506873D8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9387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kumimoji="1"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kumimoji="1"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kumimoji="1"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310E16-3F10-536A-E254-EE2BC5DACE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sz="6600" dirty="0"/>
              <a:t>Web</a:t>
            </a:r>
            <a:r>
              <a:rPr kumimoji="1" lang="ja-JP" altLang="en-US" sz="6600" dirty="0"/>
              <a:t>アプリケーション開発演習</a:t>
            </a:r>
            <a:br>
              <a:rPr kumimoji="1" lang="en-US" altLang="ja-JP" sz="6600" dirty="0"/>
            </a:br>
            <a:r>
              <a:rPr lang="ja-JP" altLang="en-US" sz="6600" dirty="0"/>
              <a:t>成果報告</a:t>
            </a:r>
            <a:endParaRPr kumimoji="1" lang="ja-JP" altLang="en-US" sz="66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68D39F2-811F-71F7-0CED-EAB5C1AAAE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/>
              <a:t>2026/05/29</a:t>
            </a:r>
          </a:p>
          <a:p>
            <a:r>
              <a:rPr kumimoji="1" lang="ja-JP" altLang="en-US" dirty="0"/>
              <a:t>スターツ出版</a:t>
            </a:r>
            <a:r>
              <a:rPr lang="ja-JP" altLang="en-US" dirty="0"/>
              <a:t>　増田千雅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05410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E60184-3B75-D2E8-A6F7-737DDF579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目次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F2AC93-D462-5443-02B2-542632D29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kumimoji="1" lang="ja-JP" altLang="en-US" sz="3600" dirty="0"/>
              <a:t>開発スケジュール報告</a:t>
            </a:r>
            <a:endParaRPr kumimoji="1" lang="en-US" altLang="ja-JP" sz="3600" dirty="0"/>
          </a:p>
          <a:p>
            <a:pPr>
              <a:buFont typeface="Wingdings" panose="05000000000000000000" pitchFamily="2" charset="2"/>
              <a:buChar char="l"/>
            </a:pPr>
            <a:r>
              <a:rPr lang="ja-JP" altLang="en-US" sz="3600" dirty="0"/>
              <a:t>成果物の概要</a:t>
            </a:r>
            <a:endParaRPr lang="en-US" altLang="ja-JP" sz="3600" dirty="0"/>
          </a:p>
          <a:p>
            <a:pPr>
              <a:buFont typeface="Wingdings" panose="05000000000000000000" pitchFamily="2" charset="2"/>
              <a:buChar char="l"/>
            </a:pPr>
            <a:r>
              <a:rPr kumimoji="1" lang="ja-JP" altLang="en-US" sz="3600" dirty="0"/>
              <a:t>得られた成果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4140A3-6594-4057-9699-B6457945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652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937144F9-B64F-002A-2622-CAFDE2B2D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D20A760-2F5C-1B02-EA77-095E933F6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開発スケジュール報告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944AB10A-B00E-7B0F-BF2E-D4383E210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376061"/>
              </p:ext>
            </p:extLst>
          </p:nvPr>
        </p:nvGraphicFramePr>
        <p:xfrm>
          <a:off x="761619" y="2011679"/>
          <a:ext cx="10687812" cy="374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210">
                  <a:extLst>
                    <a:ext uri="{9D8B030D-6E8A-4147-A177-3AD203B41FA5}">
                      <a16:colId xmlns:a16="http://schemas.microsoft.com/office/drawing/2014/main" val="1152346604"/>
                    </a:ext>
                  </a:extLst>
                </a:gridCol>
                <a:gridCol w="4147457">
                  <a:extLst>
                    <a:ext uri="{9D8B030D-6E8A-4147-A177-3AD203B41FA5}">
                      <a16:colId xmlns:a16="http://schemas.microsoft.com/office/drawing/2014/main" val="532360660"/>
                    </a:ext>
                  </a:extLst>
                </a:gridCol>
                <a:gridCol w="5571145">
                  <a:extLst>
                    <a:ext uri="{9D8B030D-6E8A-4147-A177-3AD203B41FA5}">
                      <a16:colId xmlns:a16="http://schemas.microsoft.com/office/drawing/2014/main" val="861997805"/>
                    </a:ext>
                  </a:extLst>
                </a:gridCol>
              </a:tblGrid>
              <a:tr h="546464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計画していたスケジュール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実際の進捗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872770"/>
                  </a:ext>
                </a:extLst>
              </a:tr>
              <a:tr h="1255395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5/20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スケジュール立案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要件定義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テーブル定義書の作成</a:t>
                      </a:r>
                      <a:endParaRPr kumimoji="1" lang="en-US" altLang="ja-JP" dirty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dirty="0"/>
                        <a:t>ER</a:t>
                      </a:r>
                      <a:r>
                        <a:rPr kumimoji="1" lang="ja-JP" altLang="en-US" dirty="0"/>
                        <a:t>図の作成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クラス図の作成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スケジュール立案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要件定義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dirty="0"/>
                        <a:t>ER</a:t>
                      </a:r>
                      <a:r>
                        <a:rPr kumimoji="1" lang="ja-JP" altLang="en-US" dirty="0"/>
                        <a:t>図の作成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クラス図の作成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未完成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391585"/>
                  </a:ext>
                </a:extLst>
              </a:tr>
              <a:tr h="1255395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5/21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クラス図の作成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シーケンス図の作成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テストケースの作成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開発環境構築</a:t>
                      </a:r>
                      <a:endParaRPr kumimoji="1" lang="en-US" altLang="ja-JP" dirty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データベースの実装</a:t>
                      </a:r>
                      <a:endParaRPr kumimoji="1" lang="en-US" altLang="ja-JP" dirty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アプリケーション層の実装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クラス図の作成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シーケンス図の作成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テストケースの作成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未完成</a:t>
                      </a:r>
                      <a:r>
                        <a:rPr kumimoji="1" lang="en-US" altLang="ja-JP" dirty="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テーブル定義書の作成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596406"/>
                  </a:ext>
                </a:extLst>
              </a:tr>
            </a:tbl>
          </a:graphicData>
        </a:graphic>
      </p:graphicFrame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0A45DD0D-9966-91F3-1538-EEF3C053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4777E21-51F5-8E85-3504-288A674BB0A5}"/>
              </a:ext>
            </a:extLst>
          </p:cNvPr>
          <p:cNvSpPr txBox="1"/>
          <p:nvPr/>
        </p:nvSpPr>
        <p:spPr>
          <a:xfrm>
            <a:off x="676656" y="5989135"/>
            <a:ext cx="4233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赤文字：予定通りに取り組めなかった工程</a:t>
            </a:r>
          </a:p>
        </p:txBody>
      </p:sp>
    </p:spTree>
    <p:extLst>
      <p:ext uri="{BB962C8B-B14F-4D97-AF65-F5344CB8AC3E}">
        <p14:creationId xmlns:p14="http://schemas.microsoft.com/office/powerpoint/2010/main" val="2523951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06938D-2FCB-EC1A-9C1D-9EE33D553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開発スケジュール報告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4EAD3D-4E92-C7F2-3CC5-9C40C5D70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7F6DCFD5-BAE5-E2AE-2B5B-8959C694B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246941"/>
              </p:ext>
            </p:extLst>
          </p:nvPr>
        </p:nvGraphicFramePr>
        <p:xfrm>
          <a:off x="761619" y="2011679"/>
          <a:ext cx="10687812" cy="3264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981">
                  <a:extLst>
                    <a:ext uri="{9D8B030D-6E8A-4147-A177-3AD203B41FA5}">
                      <a16:colId xmlns:a16="http://schemas.microsoft.com/office/drawing/2014/main" val="1152346604"/>
                    </a:ext>
                  </a:extLst>
                </a:gridCol>
                <a:gridCol w="4082143">
                  <a:extLst>
                    <a:ext uri="{9D8B030D-6E8A-4147-A177-3AD203B41FA5}">
                      <a16:colId xmlns:a16="http://schemas.microsoft.com/office/drawing/2014/main" val="532360660"/>
                    </a:ext>
                  </a:extLst>
                </a:gridCol>
                <a:gridCol w="5614688">
                  <a:extLst>
                    <a:ext uri="{9D8B030D-6E8A-4147-A177-3AD203B41FA5}">
                      <a16:colId xmlns:a16="http://schemas.microsoft.com/office/drawing/2014/main" val="861997805"/>
                    </a:ext>
                  </a:extLst>
                </a:gridCol>
              </a:tblGrid>
              <a:tr h="546464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計画していたスケジュール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実際の進捗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872770"/>
                  </a:ext>
                </a:extLst>
              </a:tr>
              <a:tr h="1255395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5/22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インフラストラクチャ層の実装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プレゼンテーション層の実装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社員一覧機能の実装</a:t>
                      </a:r>
                      <a:endParaRPr kumimoji="1" lang="en-US" altLang="ja-JP" dirty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部門一覧機能の実装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テストケースの作成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開発環境構築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データベースの実装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社員一覧機能の実装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未完成</a:t>
                      </a:r>
                      <a:r>
                        <a:rPr kumimoji="1" lang="en-US" altLang="ja-JP" dirty="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部門一覧機能の実装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未完成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391585"/>
                  </a:ext>
                </a:extLst>
              </a:tr>
              <a:tr h="1255395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5/25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社員登録機能の実装</a:t>
                      </a:r>
                      <a:endParaRPr kumimoji="1" lang="en-US" altLang="ja-JP" dirty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部門登録機能の実装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社員更新機能の実装</a:t>
                      </a:r>
                      <a:endParaRPr kumimoji="1" lang="en-US" altLang="ja-JP" dirty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部門更新機能の実装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部門登録機能の実装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部門一覧機能の実装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社員登録機能の実装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未完成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596406"/>
                  </a:ext>
                </a:extLst>
              </a:tr>
            </a:tbl>
          </a:graphicData>
        </a:graphic>
      </p:graphicFrame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DC05D52-48E0-188C-D462-8E074B1A0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63A3C05-A0E6-6A85-90D0-940F86D27F60}"/>
              </a:ext>
            </a:extLst>
          </p:cNvPr>
          <p:cNvSpPr txBox="1"/>
          <p:nvPr/>
        </p:nvSpPr>
        <p:spPr>
          <a:xfrm>
            <a:off x="676656" y="5989135"/>
            <a:ext cx="4233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赤文字：予定通りに取り組めなかった工程</a:t>
            </a:r>
          </a:p>
        </p:txBody>
      </p:sp>
    </p:spTree>
    <p:extLst>
      <p:ext uri="{BB962C8B-B14F-4D97-AF65-F5344CB8AC3E}">
        <p14:creationId xmlns:p14="http://schemas.microsoft.com/office/powerpoint/2010/main" val="3022149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4331E3-57C3-02C8-0182-C92C242B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開発スケジュール報告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1914F9-7E1B-2FCB-A942-F3F5DDF2F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D975E875-07B2-CBD0-C988-04A83F68D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675572"/>
              </p:ext>
            </p:extLst>
          </p:nvPr>
        </p:nvGraphicFramePr>
        <p:xfrm>
          <a:off x="761619" y="2011679"/>
          <a:ext cx="10687812" cy="3971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867">
                  <a:extLst>
                    <a:ext uri="{9D8B030D-6E8A-4147-A177-3AD203B41FA5}">
                      <a16:colId xmlns:a16="http://schemas.microsoft.com/office/drawing/2014/main" val="1152346604"/>
                    </a:ext>
                  </a:extLst>
                </a:gridCol>
                <a:gridCol w="4103914">
                  <a:extLst>
                    <a:ext uri="{9D8B030D-6E8A-4147-A177-3AD203B41FA5}">
                      <a16:colId xmlns:a16="http://schemas.microsoft.com/office/drawing/2014/main" val="532360660"/>
                    </a:ext>
                  </a:extLst>
                </a:gridCol>
                <a:gridCol w="5582031">
                  <a:extLst>
                    <a:ext uri="{9D8B030D-6E8A-4147-A177-3AD203B41FA5}">
                      <a16:colId xmlns:a16="http://schemas.microsoft.com/office/drawing/2014/main" val="861997805"/>
                    </a:ext>
                  </a:extLst>
                </a:gridCol>
              </a:tblGrid>
              <a:tr h="546464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計画していたスケジュール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実際の進捗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872770"/>
                  </a:ext>
                </a:extLst>
              </a:tr>
              <a:tr h="1255395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5/26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社員更新機能の実装</a:t>
                      </a:r>
                      <a:endParaRPr kumimoji="1" lang="en-US" altLang="ja-JP" dirty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部門更新機能の実装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社員削除機能の実装</a:t>
                      </a:r>
                      <a:endParaRPr kumimoji="1" lang="en-US" altLang="ja-JP" dirty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部門削除機能の実装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社員登録機能の実装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部門更新機能の実装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部門削除機能の実装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社員削除機能の実装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未完成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391585"/>
                  </a:ext>
                </a:extLst>
              </a:tr>
              <a:tr h="1255395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5/27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ログイン機能の実装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機能の微修正</a:t>
                      </a:r>
                      <a:endParaRPr kumimoji="1" lang="en-US" altLang="ja-JP" dirty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UI</a:t>
                      </a:r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の調整</a:t>
                      </a:r>
                      <a:endParaRPr kumimoji="1" lang="en-US" altLang="ja-JP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社員削除機能の実装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社員更新機能の実装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ログイン機能の実装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未完成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596406"/>
                  </a:ext>
                </a:extLst>
              </a:tr>
              <a:tr h="65695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5/28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プレゼンテーション資料作成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ログイン機能の実装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dirty="0"/>
                        <a:t>プレゼンテーション資料作成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dirty="0"/>
                        <a:t>UI</a:t>
                      </a:r>
                      <a:r>
                        <a:rPr kumimoji="1" lang="ja-JP" altLang="en-US" dirty="0"/>
                        <a:t>の調整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495514"/>
                  </a:ext>
                </a:extLst>
              </a:tr>
            </a:tbl>
          </a:graphicData>
        </a:graphic>
      </p:graphicFrame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C76EF2-6CD5-EFAC-F951-0EE725C29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778BB90-63E0-F805-D8BC-C500AAD4699D}"/>
              </a:ext>
            </a:extLst>
          </p:cNvPr>
          <p:cNvSpPr txBox="1"/>
          <p:nvPr/>
        </p:nvSpPr>
        <p:spPr>
          <a:xfrm>
            <a:off x="676656" y="5989135"/>
            <a:ext cx="4233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赤文字：予定通りに取り組めなかった工程</a:t>
            </a:r>
          </a:p>
        </p:txBody>
      </p:sp>
    </p:spTree>
    <p:extLst>
      <p:ext uri="{BB962C8B-B14F-4D97-AF65-F5344CB8AC3E}">
        <p14:creationId xmlns:p14="http://schemas.microsoft.com/office/powerpoint/2010/main" val="2972649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6B3F8B-1A73-CD37-354B-463E49A71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成果物の概要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B7032F-CDFD-2634-70EA-1628FF213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kumimoji="1" lang="ja-JP" altLang="en-US" dirty="0"/>
              <a:t>社員情報管理システム</a:t>
            </a:r>
            <a:endParaRPr kumimoji="1" lang="en-US" altLang="ja-JP" dirty="0"/>
          </a:p>
          <a:p>
            <a:pPr marL="354013" indent="-171450">
              <a:buFont typeface="Arial" panose="020B0604020202020204" pitchFamily="34" charset="0"/>
              <a:buChar char="•"/>
            </a:pPr>
            <a:r>
              <a:rPr lang="ja-JP" altLang="en-US" sz="2000" dirty="0"/>
              <a:t>社員と部門の情報の管理を行う</a:t>
            </a:r>
            <a:endParaRPr lang="en-US" altLang="ja-JP" sz="2000" dirty="0"/>
          </a:p>
          <a:p>
            <a:pPr marL="354013" indent="-171450">
              <a:buFont typeface="Arial" panose="020B0604020202020204" pitchFamily="34" charset="0"/>
              <a:buChar char="•"/>
            </a:pPr>
            <a:r>
              <a:rPr lang="ja-JP" altLang="en-US" sz="2000" dirty="0"/>
              <a:t>管理者はログイン</a:t>
            </a:r>
            <a:r>
              <a:rPr lang="en-US" altLang="ja-JP" sz="2000" dirty="0"/>
              <a:t>ID</a:t>
            </a:r>
            <a:r>
              <a:rPr lang="ja-JP" altLang="en-US" sz="2000" dirty="0"/>
              <a:t>とパスワードを入力してログインし、情報の閲覧および操作が可能</a:t>
            </a:r>
            <a:endParaRPr lang="en-US" altLang="ja-JP" sz="2000" dirty="0"/>
          </a:p>
          <a:p>
            <a:pPr marL="182563" indent="-182563">
              <a:buFont typeface="Wingdings" panose="05000000000000000000" pitchFamily="2" charset="2"/>
              <a:buChar char="l"/>
            </a:pPr>
            <a:r>
              <a:rPr lang="ja-JP" altLang="en-US" dirty="0"/>
              <a:t>機能一覧</a:t>
            </a:r>
            <a:endParaRPr lang="en-US" altLang="ja-JP" dirty="0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BF92EDF9-D4F0-17FB-4E39-1FBEBF182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522723"/>
              </p:ext>
            </p:extLst>
          </p:nvPr>
        </p:nvGraphicFramePr>
        <p:xfrm>
          <a:off x="967359" y="3894772"/>
          <a:ext cx="974255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1601">
                  <a:extLst>
                    <a:ext uri="{9D8B030D-6E8A-4147-A177-3AD203B41FA5}">
                      <a16:colId xmlns:a16="http://schemas.microsoft.com/office/drawing/2014/main" val="3755617841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3720466614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1414147367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1447404236"/>
                    </a:ext>
                  </a:extLst>
                </a:gridCol>
              </a:tblGrid>
              <a:tr h="266894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機能名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概要</a:t>
                      </a:r>
                    </a:p>
                  </a:txBody>
                  <a:tcPr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機能名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概要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260677"/>
                  </a:ext>
                </a:extLst>
              </a:tr>
              <a:tr h="320272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ログイン</a:t>
                      </a:r>
                      <a:r>
                        <a:rPr kumimoji="1" lang="en-US" altLang="ja-JP" sz="1800" dirty="0"/>
                        <a:t>/</a:t>
                      </a:r>
                      <a:r>
                        <a:rPr kumimoji="1" lang="ja-JP" altLang="en-US" sz="1800" dirty="0"/>
                        <a:t>ログアウト</a:t>
                      </a:r>
                      <a:endParaRPr kumimoji="1" lang="en-US" altLang="ja-JP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ユーザ認証を行う</a:t>
                      </a:r>
                    </a:p>
                  </a:txBody>
                  <a:tcPr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部門一覧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部門情報を一覧形式で表示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88930"/>
                  </a:ext>
                </a:extLst>
              </a:tr>
              <a:tr h="320272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社員一覧</a:t>
                      </a:r>
                      <a:endParaRPr kumimoji="1" lang="en-US" altLang="ja-JP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社員情報を一覧形式で表示</a:t>
                      </a:r>
                    </a:p>
                  </a:txBody>
                  <a:tcPr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部門登録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部門情報を新規登録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043197"/>
                  </a:ext>
                </a:extLst>
              </a:tr>
              <a:tr h="320272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社員登録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社員情報を新規登録</a:t>
                      </a:r>
                    </a:p>
                  </a:txBody>
                  <a:tcPr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部門更新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部門情報を更新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454681"/>
                  </a:ext>
                </a:extLst>
              </a:tr>
              <a:tr h="320272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社員更新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社員情報を更新</a:t>
                      </a:r>
                    </a:p>
                  </a:txBody>
                  <a:tcPr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部門削除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部門情報を削除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619325"/>
                  </a:ext>
                </a:extLst>
              </a:tr>
              <a:tr h="320272"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社員削除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社員情報を削除</a:t>
                      </a:r>
                    </a:p>
                  </a:txBody>
                  <a:tcPr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39833"/>
                  </a:ext>
                </a:extLst>
              </a:tr>
            </a:tbl>
          </a:graphicData>
        </a:graphic>
      </p:graphicFrame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49D5A0-ACD1-023E-448C-8CD39758B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5711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8105E8-3305-745A-A750-8E4705284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成果物の概要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93C93A-A548-6F0F-8083-D2E1B5AFF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kumimoji="1" lang="ja-JP" altLang="en-US" dirty="0"/>
              <a:t>データベースの設計</a:t>
            </a:r>
            <a:endParaRPr kumimoji="1" lang="en-US" altLang="ja-JP" dirty="0"/>
          </a:p>
          <a:p>
            <a:pPr marL="354013" indent="-171450">
              <a:buFont typeface="Arial" panose="020B0604020202020204" pitchFamily="34" charset="0"/>
              <a:buChar char="•"/>
            </a:pPr>
            <a:r>
              <a:rPr lang="ja-JP" altLang="en-US" dirty="0"/>
              <a:t>社員情報を充実</a:t>
            </a:r>
            <a:endParaRPr lang="en-US" altLang="ja-JP" dirty="0"/>
          </a:p>
          <a:p>
            <a:pPr marL="525463" indent="-342900">
              <a:buFont typeface="Wingdings" panose="05000000000000000000" pitchFamily="2" charset="2"/>
              <a:buChar char="Ø"/>
            </a:pPr>
            <a:r>
              <a:rPr lang="ja-JP" altLang="en-US" dirty="0"/>
              <a:t>性別は</a:t>
            </a:r>
            <a:r>
              <a:rPr lang="en-US" altLang="ja-JP" dirty="0"/>
              <a:t>DB</a:t>
            </a:r>
            <a:r>
              <a:rPr lang="ja-JP" altLang="en-US" dirty="0"/>
              <a:t>上では数値</a:t>
            </a:r>
            <a:r>
              <a:rPr lang="en-US" altLang="ja-JP" dirty="0"/>
              <a:t>(0:</a:t>
            </a:r>
            <a:r>
              <a:rPr lang="ja-JP" altLang="en-US" dirty="0"/>
              <a:t>男</a:t>
            </a:r>
            <a:r>
              <a:rPr lang="en-US" altLang="ja-JP" dirty="0"/>
              <a:t>,1:</a:t>
            </a:r>
            <a:r>
              <a:rPr lang="ja-JP" altLang="en-US" dirty="0"/>
              <a:t>女</a:t>
            </a:r>
            <a:r>
              <a:rPr lang="en-US" altLang="ja-JP" dirty="0"/>
              <a:t>)</a:t>
            </a:r>
          </a:p>
          <a:p>
            <a:pPr marL="525463" indent="-342900">
              <a:buFont typeface="Wingdings" panose="05000000000000000000" pitchFamily="2" charset="2"/>
              <a:buChar char="Ø"/>
            </a:pPr>
            <a:r>
              <a:rPr lang="ja-JP" altLang="en-US" dirty="0"/>
              <a:t>削除フラグを用意</a:t>
            </a:r>
            <a:r>
              <a:rPr lang="en-US" altLang="ja-JP" dirty="0"/>
              <a:t>(TRUE:</a:t>
            </a:r>
            <a:r>
              <a:rPr lang="ja-JP" altLang="en-US" dirty="0"/>
              <a:t>削除済み</a:t>
            </a:r>
            <a:r>
              <a:rPr lang="en-US" altLang="ja-JP" dirty="0"/>
              <a:t>)</a:t>
            </a:r>
          </a:p>
          <a:p>
            <a:pPr marL="354013" indent="-171450">
              <a:buFont typeface="Arial" panose="020B0604020202020204" pitchFamily="34" charset="0"/>
              <a:buChar char="•"/>
            </a:pPr>
            <a:r>
              <a:rPr kumimoji="1" lang="ja-JP" altLang="en-US" dirty="0"/>
              <a:t>ユーザーは社員と紐づけない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5194B5-FE17-25F7-C403-C4CE1EEB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7</a:t>
            </a:fld>
            <a:endParaRPr kumimoji="1" lang="ja-JP" altLang="en-US"/>
          </a:p>
        </p:txBody>
      </p:sp>
      <p:pic>
        <p:nvPicPr>
          <p:cNvPr id="5" name="図 4" descr="ER図">
            <a:extLst>
              <a:ext uri="{FF2B5EF4-FFF2-40B4-BE49-F238E27FC236}">
                <a16:creationId xmlns:a16="http://schemas.microsoft.com/office/drawing/2014/main" id="{326B1C91-7152-E7D2-126A-14FCE0EC8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641" y="1454175"/>
            <a:ext cx="6174590" cy="437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284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1207DF-5CA6-2EBA-B7D3-245130209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成果物の概要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47CED3-FAE7-82B4-6587-14C467FEE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kumimoji="1" lang="ja-JP" altLang="en-US" dirty="0"/>
              <a:t>機能の概要</a:t>
            </a:r>
            <a:endParaRPr kumimoji="1" lang="en-US" altLang="ja-JP" dirty="0"/>
          </a:p>
          <a:p>
            <a:pPr marL="354013" indent="-171450">
              <a:buFont typeface="Arial" panose="020B0604020202020204" pitchFamily="34" charset="0"/>
              <a:buChar char="•"/>
            </a:pPr>
            <a:r>
              <a:rPr lang="ja-JP" altLang="en-US" sz="2200" dirty="0"/>
              <a:t>ログイン</a:t>
            </a:r>
            <a:r>
              <a:rPr lang="en-US" altLang="ja-JP" sz="2200" dirty="0"/>
              <a:t>/</a:t>
            </a:r>
            <a:r>
              <a:rPr lang="ja-JP" altLang="en-US" sz="2200" dirty="0"/>
              <a:t>ログアウト機能：ユーザ認証を行う</a:t>
            </a:r>
            <a:endParaRPr lang="en-US" altLang="ja-JP" sz="2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C7CF8ED-2A65-6E9C-B5B2-3574C17FF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B413FA2D-C491-5BC8-2230-F6656EC82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30" y="2931283"/>
            <a:ext cx="5479310" cy="29451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174292D0-1415-C2D9-058D-83F9BAF8B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58" y="2884325"/>
            <a:ext cx="5479312" cy="29451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矢印: 右 12">
            <a:extLst>
              <a:ext uri="{FF2B5EF4-FFF2-40B4-BE49-F238E27FC236}">
                <a16:creationId xmlns:a16="http://schemas.microsoft.com/office/drawing/2014/main" id="{6A8B55D1-F285-3239-D31B-68181D63433C}"/>
              </a:ext>
            </a:extLst>
          </p:cNvPr>
          <p:cNvSpPr/>
          <p:nvPr/>
        </p:nvSpPr>
        <p:spPr>
          <a:xfrm>
            <a:off x="5770246" y="3950613"/>
            <a:ext cx="651508" cy="92932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DDD19E5-3457-4BB6-FD91-8CD7339598B2}"/>
              </a:ext>
            </a:extLst>
          </p:cNvPr>
          <p:cNvSpPr txBox="1"/>
          <p:nvPr/>
        </p:nvSpPr>
        <p:spPr>
          <a:xfrm>
            <a:off x="2211308" y="5989135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トップページ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A09AB98-C642-3F2B-7833-E570ED3FD63C}"/>
              </a:ext>
            </a:extLst>
          </p:cNvPr>
          <p:cNvSpPr txBox="1"/>
          <p:nvPr/>
        </p:nvSpPr>
        <p:spPr>
          <a:xfrm>
            <a:off x="8089628" y="5945016"/>
            <a:ext cx="237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ログイン情報入力画面</a:t>
            </a:r>
          </a:p>
        </p:txBody>
      </p:sp>
    </p:spTree>
    <p:extLst>
      <p:ext uri="{BB962C8B-B14F-4D97-AF65-F5344CB8AC3E}">
        <p14:creationId xmlns:p14="http://schemas.microsoft.com/office/powerpoint/2010/main" val="401554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867FCC-DC7D-8480-A7E7-92C15C8A6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成果物の概要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25F5690-0C83-31BA-34CB-71FC81EF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9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5924AAF-F25A-4B2E-7373-EAEA2DA28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02" y="1983968"/>
            <a:ext cx="5376863" cy="28900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FE36AAF-2979-5236-2FAF-5BA0650F5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776" y="1983968"/>
            <a:ext cx="5376862" cy="289006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F9C294D5-D169-743C-A2FD-207C15797298}"/>
              </a:ext>
            </a:extLst>
          </p:cNvPr>
          <p:cNvSpPr/>
          <p:nvPr/>
        </p:nvSpPr>
        <p:spPr>
          <a:xfrm>
            <a:off x="5758816" y="3037361"/>
            <a:ext cx="651508" cy="92932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687A573-0D5B-1573-3E0A-150EF4631731}"/>
              </a:ext>
            </a:extLst>
          </p:cNvPr>
          <p:cNvSpPr txBox="1"/>
          <p:nvPr/>
        </p:nvSpPr>
        <p:spPr>
          <a:xfrm>
            <a:off x="8551886" y="4992033"/>
            <a:ext cx="1452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ログイン完了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7A46159-2900-DC75-AC61-D274AE28FF25}"/>
              </a:ext>
            </a:extLst>
          </p:cNvPr>
          <p:cNvSpPr txBox="1"/>
          <p:nvPr/>
        </p:nvSpPr>
        <p:spPr>
          <a:xfrm>
            <a:off x="1315020" y="4992033"/>
            <a:ext cx="3151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ユーザー</a:t>
            </a:r>
            <a:r>
              <a:rPr kumimoji="1" lang="en-US" altLang="ja-JP" dirty="0"/>
              <a:t>ID</a:t>
            </a:r>
            <a:r>
              <a:rPr kumimoji="1" lang="ja-JP" altLang="en-US" dirty="0"/>
              <a:t>とパスワードを入力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2C8823B-21E9-3E07-0BA0-D56182CE313F}"/>
              </a:ext>
            </a:extLst>
          </p:cNvPr>
          <p:cNvSpPr txBox="1"/>
          <p:nvPr/>
        </p:nvSpPr>
        <p:spPr>
          <a:xfrm>
            <a:off x="1922146" y="5753661"/>
            <a:ext cx="7673340" cy="646331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879248734">
                  <a:custGeom>
                    <a:avLst/>
                    <a:gdLst>
                      <a:gd name="csX0" fmla="*/ 0 w 7673340"/>
                      <a:gd name="csY0" fmla="*/ 0 h 646331"/>
                      <a:gd name="csX1" fmla="*/ 7673340 w 7673340"/>
                      <a:gd name="csY1" fmla="*/ 0 h 646331"/>
                      <a:gd name="csX2" fmla="*/ 7673340 w 7673340"/>
                      <a:gd name="csY2" fmla="*/ 646331 h 646331"/>
                      <a:gd name="csX3" fmla="*/ 0 w 7673340"/>
                      <a:gd name="csY3" fmla="*/ 646331 h 646331"/>
                      <a:gd name="csX4" fmla="*/ 0 w 7673340"/>
                      <a:gd name="csY4" fmla="*/ 0 h 6463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7673340" h="646331" extrusionOk="0">
                        <a:moveTo>
                          <a:pt x="0" y="0"/>
                        </a:moveTo>
                        <a:cubicBezTo>
                          <a:pt x="3046856" y="-42219"/>
                          <a:pt x="6814475" y="63140"/>
                          <a:pt x="7673340" y="0"/>
                        </a:cubicBezTo>
                        <a:cubicBezTo>
                          <a:pt x="7621432" y="285751"/>
                          <a:pt x="7652214" y="357356"/>
                          <a:pt x="7673340" y="646331"/>
                        </a:cubicBezTo>
                        <a:cubicBezTo>
                          <a:pt x="4238889" y="739986"/>
                          <a:pt x="2105656" y="580529"/>
                          <a:pt x="0" y="646331"/>
                        </a:cubicBezTo>
                        <a:cubicBezTo>
                          <a:pt x="-40103" y="406218"/>
                          <a:pt x="49820" y="2910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Cookie</a:t>
            </a:r>
            <a:r>
              <a:rPr kumimoji="1" lang="ja-JP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認証を利用</a:t>
            </a:r>
            <a:endParaRPr kumimoji="1" lang="en-US" altLang="ja-JP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1" lang="ja-JP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ログインした状態でないと他の機能のページにアクセスできない</a:t>
            </a:r>
          </a:p>
        </p:txBody>
      </p:sp>
    </p:spTree>
    <p:extLst>
      <p:ext uri="{BB962C8B-B14F-4D97-AF65-F5344CB8AC3E}">
        <p14:creationId xmlns:p14="http://schemas.microsoft.com/office/powerpoint/2010/main" val="1166558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B4FD6-47B7-DD3A-6202-23533A6B5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E25794-06AB-10A2-AB06-815E271EA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成果物の概要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4DB35E3-71BC-B03E-EF06-2C87AB45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3BABBBB-E8E9-AFB6-3500-ECD6CEB9C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66" y="1983968"/>
            <a:ext cx="5376862" cy="289006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49DAB5DF-978A-55CB-6892-94CBEFDC4A8C}"/>
              </a:ext>
            </a:extLst>
          </p:cNvPr>
          <p:cNvSpPr/>
          <p:nvPr/>
        </p:nvSpPr>
        <p:spPr>
          <a:xfrm>
            <a:off x="5770246" y="3065073"/>
            <a:ext cx="651508" cy="92932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53F8F8F-F033-971B-6062-2E167246A075}"/>
              </a:ext>
            </a:extLst>
          </p:cNvPr>
          <p:cNvSpPr txBox="1"/>
          <p:nvPr/>
        </p:nvSpPr>
        <p:spPr>
          <a:xfrm>
            <a:off x="1571426" y="5019745"/>
            <a:ext cx="26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ログアウトボタンをクリック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D7E8A85-A3AB-A7EC-5E99-7614AF13E4E6}"/>
              </a:ext>
            </a:extLst>
          </p:cNvPr>
          <p:cNvSpPr/>
          <p:nvPr/>
        </p:nvSpPr>
        <p:spPr>
          <a:xfrm>
            <a:off x="2454497" y="3642167"/>
            <a:ext cx="914400" cy="484064"/>
          </a:xfrm>
          <a:prstGeom prst="rect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ECD106C-E79E-E2F8-18AB-C29349A87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870" y="1983968"/>
            <a:ext cx="5376864" cy="28900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69B994A-47A9-797A-C14F-040F3859BC41}"/>
              </a:ext>
            </a:extLst>
          </p:cNvPr>
          <p:cNvSpPr txBox="1"/>
          <p:nvPr/>
        </p:nvSpPr>
        <p:spPr>
          <a:xfrm>
            <a:off x="7277091" y="5019745"/>
            <a:ext cx="3945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ログアウト処理されトップページに遷移</a:t>
            </a:r>
          </a:p>
        </p:txBody>
      </p:sp>
    </p:spTree>
    <p:extLst>
      <p:ext uri="{BB962C8B-B14F-4D97-AF65-F5344CB8AC3E}">
        <p14:creationId xmlns:p14="http://schemas.microsoft.com/office/powerpoint/2010/main" val="2001335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93EE2D-E3CC-A5EC-A9F4-7EE569226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成果物の概要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74CF0C-2E2A-A953-AB31-0219DFAFE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ja-JP" altLang="en-US" dirty="0"/>
              <a:t>社員一覧機能：データベースに登録されている社員全員を一覧形式で表示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94C5295-E862-8EC2-9BFC-02F1D849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11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850D0D9-890B-8EA0-DC46-42282847E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860" y="2520749"/>
            <a:ext cx="7139940" cy="383771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50379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90A5E8-80F2-C0F6-57FD-CD4D6D2A5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成果物の概要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FA4BF9-EEE5-769A-4F0E-E32C9612F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ja-JP" altLang="en-US" dirty="0"/>
              <a:t>社員登録機能：新入社員など、社員を新規登録する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4C5FFBD-F89E-E210-456C-A8F3FAE39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56ED003-87F7-4C63-FAE6-352F4730C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350" y="2622216"/>
            <a:ext cx="5435038" cy="292133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917F9ED-4709-E371-1342-AD9F32D40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009" y="2622216"/>
            <a:ext cx="5435040" cy="292133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3FD38263-F602-D63D-FEA5-24209F9E7209}"/>
              </a:ext>
            </a:extLst>
          </p:cNvPr>
          <p:cNvSpPr/>
          <p:nvPr/>
        </p:nvSpPr>
        <p:spPr>
          <a:xfrm>
            <a:off x="5770246" y="3770942"/>
            <a:ext cx="651508" cy="92932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51E9892-71A4-C8DF-D887-71CD55DDCFFE}"/>
              </a:ext>
            </a:extLst>
          </p:cNvPr>
          <p:cNvSpPr txBox="1"/>
          <p:nvPr/>
        </p:nvSpPr>
        <p:spPr>
          <a:xfrm>
            <a:off x="1835206" y="569174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社員情報入力画面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256B981-E4F9-664A-A557-377420FF9E97}"/>
              </a:ext>
            </a:extLst>
          </p:cNvPr>
          <p:cNvSpPr txBox="1"/>
          <p:nvPr/>
        </p:nvSpPr>
        <p:spPr>
          <a:xfrm>
            <a:off x="8325469" y="569174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登録情報確認画面</a:t>
            </a:r>
          </a:p>
        </p:txBody>
      </p:sp>
    </p:spTree>
    <p:extLst>
      <p:ext uri="{BB962C8B-B14F-4D97-AF65-F5344CB8AC3E}">
        <p14:creationId xmlns:p14="http://schemas.microsoft.com/office/powerpoint/2010/main" val="3556283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997B6-DB9A-F157-EF86-683E8AF7C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5E6FC6-137D-0435-914B-2C3E7872E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ja-JP" altLang="en-US" dirty="0"/>
              <a:t>社員登録機能：新入社員など、社員を新規登録する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5E45464-B1C0-8EA6-175C-D8311E76565C}"/>
              </a:ext>
            </a:extLst>
          </p:cNvPr>
          <p:cNvSpPr txBox="1"/>
          <p:nvPr/>
        </p:nvSpPr>
        <p:spPr>
          <a:xfrm>
            <a:off x="6005227" y="2536637"/>
            <a:ext cx="5851324" cy="2862322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879248734">
                  <a:custGeom>
                    <a:avLst/>
                    <a:gdLst>
                      <a:gd name="csX0" fmla="*/ 0 w 7673340"/>
                      <a:gd name="csY0" fmla="*/ 0 h 646331"/>
                      <a:gd name="csX1" fmla="*/ 7673340 w 7673340"/>
                      <a:gd name="csY1" fmla="*/ 0 h 646331"/>
                      <a:gd name="csX2" fmla="*/ 7673340 w 7673340"/>
                      <a:gd name="csY2" fmla="*/ 646331 h 646331"/>
                      <a:gd name="csX3" fmla="*/ 0 w 7673340"/>
                      <a:gd name="csY3" fmla="*/ 646331 h 646331"/>
                      <a:gd name="csX4" fmla="*/ 0 w 7673340"/>
                      <a:gd name="csY4" fmla="*/ 0 h 6463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7673340" h="646331" extrusionOk="0">
                        <a:moveTo>
                          <a:pt x="0" y="0"/>
                        </a:moveTo>
                        <a:cubicBezTo>
                          <a:pt x="3046856" y="-42219"/>
                          <a:pt x="6814475" y="63140"/>
                          <a:pt x="7673340" y="0"/>
                        </a:cubicBezTo>
                        <a:cubicBezTo>
                          <a:pt x="7621432" y="285751"/>
                          <a:pt x="7652214" y="357356"/>
                          <a:pt x="7673340" y="646331"/>
                        </a:cubicBezTo>
                        <a:cubicBezTo>
                          <a:pt x="4238889" y="739986"/>
                          <a:pt x="2105656" y="580529"/>
                          <a:pt x="0" y="646331"/>
                        </a:cubicBezTo>
                        <a:cubicBezTo>
                          <a:pt x="-40103" y="406218"/>
                          <a:pt x="49820" y="2910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入力チェックで好ましくない入力を受け入れない</a:t>
            </a:r>
            <a:endParaRPr kumimoji="1" lang="en-US" altLang="ja-JP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kumimoji="1" lang="en-US" altLang="ja-JP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kumimoji="1" lang="en-US" altLang="ja-JP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kumimoji="1" lang="en-US" altLang="ja-JP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kumimoji="1" lang="en-US" altLang="ja-JP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kumimoji="1" lang="en-US" altLang="ja-JP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kumimoji="1" lang="en-US" altLang="ja-JP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kumimoji="1" lang="en-US" altLang="ja-JP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kumimoji="1" lang="en-US" altLang="ja-JP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kumimoji="1" lang="en-US" altLang="ja-JP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A9A2B4F-40B7-8001-9774-65DA9E513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成果物の概要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8B0ADD0-C09C-D711-3B3C-F28D5ED9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13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2F558DB-FD73-EF3A-3CFA-EDB860311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350" y="2622216"/>
            <a:ext cx="5435038" cy="29213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3E4E7A6-D9B8-BEC4-6A99-00202BBDE7CB}"/>
              </a:ext>
            </a:extLst>
          </p:cNvPr>
          <p:cNvSpPr txBox="1"/>
          <p:nvPr/>
        </p:nvSpPr>
        <p:spPr>
          <a:xfrm>
            <a:off x="1835206" y="569174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社員登録完了画面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928CCDE-FA95-EF65-8352-A1493067E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3146330"/>
            <a:ext cx="2764995" cy="18401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24B1915-CE10-9CE6-AF8F-4D45AC24F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1205" y="3126000"/>
            <a:ext cx="2708801" cy="84179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86009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E1F683-DBF6-0433-8F58-C4E87A987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成果物の概要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F6E85B-8054-5643-523D-E28E643AF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ja-JP" altLang="en-US" dirty="0"/>
              <a:t>社員更新機能：部署や住所などの社員の情報を変更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C30BF9-B7B6-C1B4-E46F-36764D23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14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4E488F2-445D-BCF7-B075-09CB87C02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" y="2563980"/>
            <a:ext cx="5223510" cy="28076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DFF7D14-E238-A8AF-162F-3CACDD2174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9218" y="2563980"/>
            <a:ext cx="5223508" cy="28076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D02D8E9-33D9-986A-3FAA-5E7AB782D361}"/>
              </a:ext>
            </a:extLst>
          </p:cNvPr>
          <p:cNvSpPr txBox="1"/>
          <p:nvPr/>
        </p:nvSpPr>
        <p:spPr>
          <a:xfrm>
            <a:off x="1790402" y="545780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更新社員選択画面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31DDC98-D6CB-1D78-1B03-DFCC31A1488E}"/>
              </a:ext>
            </a:extLst>
          </p:cNvPr>
          <p:cNvSpPr txBox="1"/>
          <p:nvPr/>
        </p:nvSpPr>
        <p:spPr>
          <a:xfrm>
            <a:off x="8285309" y="542699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更新情報入力画面</a:t>
            </a: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216BCA55-4632-0283-8D0A-A6E38F5B7A1A}"/>
              </a:ext>
            </a:extLst>
          </p:cNvPr>
          <p:cNvSpPr/>
          <p:nvPr/>
        </p:nvSpPr>
        <p:spPr>
          <a:xfrm>
            <a:off x="5770246" y="3770942"/>
            <a:ext cx="651508" cy="92932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1193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7308B-C1DC-1425-0FC8-5107035E8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E812C2-A040-1843-C5B7-9DFAF82EE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成果物の概要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A29292-15A4-666A-73D5-F06041C93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ja-JP" altLang="en-US" dirty="0"/>
              <a:t>社員更新機能：部署や住所などの社員の情報を変更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F4AA10-7877-3E7A-EE09-5B6DA09E7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15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C30C64A-DACE-298C-1600-A3CD0D86E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311" y="2563980"/>
            <a:ext cx="5223508" cy="28076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4CA9A4B-A9BA-5E51-8763-3D9EB337E1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9218" y="2563980"/>
            <a:ext cx="5223508" cy="28076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4F1D94F-A9B8-0F2C-2E13-C731F4C766DB}"/>
              </a:ext>
            </a:extLst>
          </p:cNvPr>
          <p:cNvSpPr txBox="1"/>
          <p:nvPr/>
        </p:nvSpPr>
        <p:spPr>
          <a:xfrm>
            <a:off x="1790402" y="545780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更新情報確認画面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04DAEAE-5A6B-703F-A549-B11F89737890}"/>
              </a:ext>
            </a:extLst>
          </p:cNvPr>
          <p:cNvSpPr txBox="1"/>
          <p:nvPr/>
        </p:nvSpPr>
        <p:spPr>
          <a:xfrm>
            <a:off x="8285309" y="542699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社員更新完了画面</a:t>
            </a: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DC49FFE6-2744-25F3-6A3B-879616FA3096}"/>
              </a:ext>
            </a:extLst>
          </p:cNvPr>
          <p:cNvSpPr/>
          <p:nvPr/>
        </p:nvSpPr>
        <p:spPr>
          <a:xfrm>
            <a:off x="5770246" y="3770942"/>
            <a:ext cx="651508" cy="92932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9399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C352B-0555-049F-1337-E8C5EB463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D3CAB3-B0A8-4A81-0CD3-1C7AB9D3E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成果物の概要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806EF9-1269-B195-A8DF-0E5AD9307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ja-JP" altLang="en-US" dirty="0"/>
              <a:t>社員削除機能：登録されている社員の情報を削除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9890141-7834-0C0D-EC1E-7019514CF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16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830EC8D-B117-65E1-AEE6-74ADBAA63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311" y="2563980"/>
            <a:ext cx="5223508" cy="28076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EF0C9FC-5FF2-AB51-5DF2-AC4992EE9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9218" y="2563980"/>
            <a:ext cx="5223507" cy="28076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00C41C-3297-D2F9-0177-B661F52C7FB3}"/>
              </a:ext>
            </a:extLst>
          </p:cNvPr>
          <p:cNvSpPr txBox="1"/>
          <p:nvPr/>
        </p:nvSpPr>
        <p:spPr>
          <a:xfrm>
            <a:off x="1790402" y="545780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削除社員選択画面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0C01A4-E7A8-607D-978E-1D5764EEBC50}"/>
              </a:ext>
            </a:extLst>
          </p:cNvPr>
          <p:cNvSpPr txBox="1"/>
          <p:nvPr/>
        </p:nvSpPr>
        <p:spPr>
          <a:xfrm>
            <a:off x="8285309" y="542699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社員削除確認画面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A8299DD0-DDFA-616C-DBDC-3A3D51AB4D6A}"/>
              </a:ext>
            </a:extLst>
          </p:cNvPr>
          <p:cNvSpPr/>
          <p:nvPr/>
        </p:nvSpPr>
        <p:spPr>
          <a:xfrm>
            <a:off x="5770246" y="3770942"/>
            <a:ext cx="651508" cy="92932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4390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0E9D7-E0F1-37CE-38B6-508867A8D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7EB203-4011-B4D1-8628-170D3B242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成果物の概要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19CCA3-C465-5F56-3A95-DB62A17D4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ja-JP" altLang="en-US" dirty="0"/>
              <a:t>社員削除機能：登録されている社員の情報を削除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529378-5314-076B-4DC6-ED2FE8958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17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A38034B-07E1-18E9-8F6A-CB5164BDE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311" y="2563980"/>
            <a:ext cx="5223507" cy="28076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58BAF29-88C1-AC5D-7C5A-C14210D78E7E}"/>
              </a:ext>
            </a:extLst>
          </p:cNvPr>
          <p:cNvSpPr txBox="1"/>
          <p:nvPr/>
        </p:nvSpPr>
        <p:spPr>
          <a:xfrm>
            <a:off x="1790402" y="545780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社員削除完了画面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71DEF23-ED2F-4D93-6921-E4C82DD17EBD}"/>
              </a:ext>
            </a:extLst>
          </p:cNvPr>
          <p:cNvSpPr txBox="1"/>
          <p:nvPr/>
        </p:nvSpPr>
        <p:spPr>
          <a:xfrm>
            <a:off x="5838682" y="2582803"/>
            <a:ext cx="5851324" cy="923330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879248734">
                  <a:custGeom>
                    <a:avLst/>
                    <a:gdLst>
                      <a:gd name="csX0" fmla="*/ 0 w 7673340"/>
                      <a:gd name="csY0" fmla="*/ 0 h 646331"/>
                      <a:gd name="csX1" fmla="*/ 7673340 w 7673340"/>
                      <a:gd name="csY1" fmla="*/ 0 h 646331"/>
                      <a:gd name="csX2" fmla="*/ 7673340 w 7673340"/>
                      <a:gd name="csY2" fmla="*/ 646331 h 646331"/>
                      <a:gd name="csX3" fmla="*/ 0 w 7673340"/>
                      <a:gd name="csY3" fmla="*/ 646331 h 646331"/>
                      <a:gd name="csX4" fmla="*/ 0 w 7673340"/>
                      <a:gd name="csY4" fmla="*/ 0 h 6463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7673340" h="646331" extrusionOk="0">
                        <a:moveTo>
                          <a:pt x="0" y="0"/>
                        </a:moveTo>
                        <a:cubicBezTo>
                          <a:pt x="3046856" y="-42219"/>
                          <a:pt x="6814475" y="63140"/>
                          <a:pt x="7673340" y="0"/>
                        </a:cubicBezTo>
                        <a:cubicBezTo>
                          <a:pt x="7621432" y="285751"/>
                          <a:pt x="7652214" y="357356"/>
                          <a:pt x="7673340" y="646331"/>
                        </a:cubicBezTo>
                        <a:cubicBezTo>
                          <a:pt x="4238889" y="739986"/>
                          <a:pt x="2105656" y="580529"/>
                          <a:pt x="0" y="646331"/>
                        </a:cubicBezTo>
                        <a:cubicBezTo>
                          <a:pt x="-40103" y="406218"/>
                          <a:pt x="49820" y="2910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削除フラグを使用</a:t>
            </a:r>
            <a:endParaRPr kumimoji="1" lang="en-US" altLang="ja-JP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1" lang="ja-JP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データベースから物理的に削除していない</a:t>
            </a:r>
            <a:endParaRPr kumimoji="1" lang="en-US" altLang="ja-JP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1" lang="ja-JP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将来的に削除した社員の情報が欲しくなったときに便利</a:t>
            </a:r>
            <a:endParaRPr kumimoji="1" lang="en-US" altLang="ja-JP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602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77E27E-8EFF-5B74-40D7-AD5E0917D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成果物の概要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6ECD9B-C827-2116-9B8C-8A46AE1EA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ja-JP" altLang="en-US" dirty="0"/>
              <a:t>部門の削除：登録されている部門を削除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9BDEDF-A187-4247-AE19-06D8E1235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18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21BC4E1-BCD8-B9B7-191A-4B1C44A61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559474"/>
            <a:ext cx="5247495" cy="28205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148763B-7EE5-C0A5-6277-989D88E28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05" y="2559474"/>
            <a:ext cx="5247495" cy="28205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AE693098-397F-AF2A-F348-4F39A0149FAF}"/>
              </a:ext>
            </a:extLst>
          </p:cNvPr>
          <p:cNvSpPr/>
          <p:nvPr/>
        </p:nvSpPr>
        <p:spPr>
          <a:xfrm>
            <a:off x="5770246" y="3770942"/>
            <a:ext cx="651508" cy="92932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DDFD56B-F226-B43F-A13D-9A66967BFAFB}"/>
              </a:ext>
            </a:extLst>
          </p:cNvPr>
          <p:cNvSpPr txBox="1"/>
          <p:nvPr/>
        </p:nvSpPr>
        <p:spPr>
          <a:xfrm>
            <a:off x="3127856" y="5478550"/>
            <a:ext cx="5851324" cy="923330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879248734">
                  <a:custGeom>
                    <a:avLst/>
                    <a:gdLst>
                      <a:gd name="csX0" fmla="*/ 0 w 7673340"/>
                      <a:gd name="csY0" fmla="*/ 0 h 646331"/>
                      <a:gd name="csX1" fmla="*/ 7673340 w 7673340"/>
                      <a:gd name="csY1" fmla="*/ 0 h 646331"/>
                      <a:gd name="csX2" fmla="*/ 7673340 w 7673340"/>
                      <a:gd name="csY2" fmla="*/ 646331 h 646331"/>
                      <a:gd name="csX3" fmla="*/ 0 w 7673340"/>
                      <a:gd name="csY3" fmla="*/ 646331 h 646331"/>
                      <a:gd name="csX4" fmla="*/ 0 w 7673340"/>
                      <a:gd name="csY4" fmla="*/ 0 h 6463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7673340" h="646331" extrusionOk="0">
                        <a:moveTo>
                          <a:pt x="0" y="0"/>
                        </a:moveTo>
                        <a:cubicBezTo>
                          <a:pt x="3046856" y="-42219"/>
                          <a:pt x="6814475" y="63140"/>
                          <a:pt x="7673340" y="0"/>
                        </a:cubicBezTo>
                        <a:cubicBezTo>
                          <a:pt x="7621432" y="285751"/>
                          <a:pt x="7652214" y="357356"/>
                          <a:pt x="7673340" y="646331"/>
                        </a:cubicBezTo>
                        <a:cubicBezTo>
                          <a:pt x="4238889" y="739986"/>
                          <a:pt x="2105656" y="580529"/>
                          <a:pt x="0" y="646331"/>
                        </a:cubicBezTo>
                        <a:cubicBezTo>
                          <a:pt x="-40103" y="406218"/>
                          <a:pt x="49820" y="2910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消したい部門にメンバーがいる場合</a:t>
            </a:r>
            <a:endParaRPr kumimoji="1" lang="en-US" altLang="ja-JP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1" lang="ja-JP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メンバーの部門を</a:t>
            </a:r>
            <a:r>
              <a:rPr kumimoji="1" lang="en-US" altLang="ja-JP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”</a:t>
            </a:r>
            <a:r>
              <a:rPr kumimoji="1" lang="ja-JP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無所属</a:t>
            </a:r>
            <a:r>
              <a:rPr kumimoji="1" lang="en-US" altLang="ja-JP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”</a:t>
            </a:r>
            <a:r>
              <a:rPr kumimoji="1" lang="ja-JP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に変更</a:t>
            </a:r>
            <a:endParaRPr kumimoji="1" lang="en-US" altLang="ja-JP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1" lang="ja-JP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部門</a:t>
            </a:r>
            <a:r>
              <a:rPr kumimoji="1" lang="en-US" altLang="ja-JP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”</a:t>
            </a:r>
            <a:r>
              <a:rPr kumimoji="1" lang="ja-JP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無所属</a:t>
            </a:r>
            <a:r>
              <a:rPr kumimoji="1" lang="en-US" altLang="ja-JP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”</a:t>
            </a:r>
            <a:r>
              <a:rPr kumimoji="1" lang="ja-JP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は削除不可</a:t>
            </a:r>
            <a:endParaRPr kumimoji="1" lang="en-US" altLang="ja-JP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0169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F03BC7-9C85-6915-22C2-2F83F2CE8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得られた成果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A8AC92-7DC7-1AEB-4897-0A098F039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ja-JP" altLang="en-US" dirty="0"/>
              <a:t>良かった</a:t>
            </a:r>
            <a:r>
              <a:rPr kumimoji="1" lang="ja-JP" altLang="en-US" dirty="0"/>
              <a:t>点</a:t>
            </a:r>
            <a:endParaRPr kumimoji="1" lang="en-US" altLang="ja-JP" dirty="0"/>
          </a:p>
          <a:p>
            <a:pPr marL="354013" indent="-171450">
              <a:buFont typeface="Arial" panose="020B0604020202020204" pitchFamily="34" charset="0"/>
              <a:buChar char="•"/>
            </a:pPr>
            <a:r>
              <a:rPr kumimoji="1" lang="ja-JP" altLang="en-US" dirty="0"/>
              <a:t>当初予定していた</a:t>
            </a:r>
            <a:r>
              <a:rPr lang="ja-JP" altLang="en-US" dirty="0"/>
              <a:t>機能をすべて実装できた</a:t>
            </a:r>
            <a:endParaRPr lang="en-US" altLang="ja-JP" dirty="0"/>
          </a:p>
          <a:p>
            <a:pPr>
              <a:buFont typeface="Wingdings" panose="05000000000000000000" pitchFamily="2" charset="2"/>
              <a:buChar char="l"/>
            </a:pPr>
            <a:r>
              <a:rPr lang="ja-JP" altLang="en-US" dirty="0"/>
              <a:t>反省点</a:t>
            </a:r>
            <a:endParaRPr lang="en-US" altLang="ja-JP" dirty="0"/>
          </a:p>
          <a:p>
            <a:pPr marL="354013" indent="-171450">
              <a:buFont typeface="Arial" panose="020B0604020202020204" pitchFamily="34" charset="0"/>
              <a:buChar char="•"/>
            </a:pPr>
            <a:r>
              <a:rPr lang="ja-JP" altLang="en-US" dirty="0"/>
              <a:t>開発スケジュールの見積りが甘く、想定より少し遅れてしまった</a:t>
            </a:r>
            <a:endParaRPr lang="en-US" altLang="ja-JP" dirty="0"/>
          </a:p>
          <a:p>
            <a:pPr marL="354013" indent="0">
              <a:buFont typeface="Wingdings" panose="05000000000000000000" pitchFamily="2" charset="2"/>
              <a:buChar char="Ø"/>
            </a:pPr>
            <a:r>
              <a:rPr lang="ja-JP" altLang="en-US" dirty="0"/>
              <a:t>クラス図の作成、テストに時間がかかった</a:t>
            </a:r>
            <a:endParaRPr lang="en-US" altLang="ja-JP" dirty="0"/>
          </a:p>
          <a:p>
            <a:pPr marL="354013" indent="-171450">
              <a:buFont typeface="Arial" panose="020B0604020202020204" pitchFamily="34" charset="0"/>
              <a:buChar char="•"/>
            </a:pPr>
            <a:r>
              <a:rPr lang="ja-JP" altLang="en-US" dirty="0"/>
              <a:t>実装の際、社員のフィールドを増やすところから始めた</a:t>
            </a:r>
            <a:endParaRPr lang="en-US" altLang="ja-JP" dirty="0"/>
          </a:p>
          <a:p>
            <a:pPr marL="354013" indent="0">
              <a:buFont typeface="Wingdings" panose="05000000000000000000" pitchFamily="2" charset="2"/>
              <a:buChar char="Ø"/>
            </a:pPr>
            <a:r>
              <a:rPr lang="ja-JP" altLang="en-US" dirty="0"/>
              <a:t>アーキテクチャへの理解が浅く、途中でエラー修正の収拾がつかなくなった</a:t>
            </a:r>
            <a:endParaRPr lang="en-US" altLang="ja-JP" dirty="0"/>
          </a:p>
          <a:p>
            <a:pPr marL="354013" indent="0">
              <a:buFont typeface="Wingdings" panose="05000000000000000000" pitchFamily="2" charset="2"/>
              <a:buChar char="Ø"/>
            </a:pPr>
            <a:r>
              <a:rPr lang="ja-JP" altLang="en-US" dirty="0"/>
              <a:t>細分化して作業した方がよかった</a:t>
            </a:r>
            <a:r>
              <a:rPr lang="en-US" altLang="ja-JP" dirty="0"/>
              <a:t>(</a:t>
            </a:r>
            <a:r>
              <a:rPr lang="ja-JP" altLang="en-US" dirty="0"/>
              <a:t>例：フィールドを１個ずつ増やす</a:t>
            </a:r>
            <a:r>
              <a:rPr lang="en-US" altLang="ja-JP" dirty="0"/>
              <a:t>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60E3D5-0BF8-EB37-1533-34139EA6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6514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A6104E-46EF-8063-91DC-AD41F87EF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得られた成果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3E7AC7-69BC-0591-0979-396F481B4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kumimoji="1" lang="ja-JP" altLang="en-US" dirty="0"/>
              <a:t>研修前と比べ成長した点</a:t>
            </a:r>
            <a:endParaRPr kumimoji="1" lang="en-US" altLang="ja-JP" dirty="0"/>
          </a:p>
          <a:p>
            <a:pPr marL="354013" indent="-171450">
              <a:buFont typeface="Arial" panose="020B0604020202020204" pitchFamily="34" charset="0"/>
              <a:buChar char="•"/>
            </a:pPr>
            <a:r>
              <a:rPr lang="ja-JP" altLang="en-US" dirty="0"/>
              <a:t>知識が立体的になった</a:t>
            </a:r>
            <a:endParaRPr lang="en-US" altLang="ja-JP" dirty="0"/>
          </a:p>
          <a:p>
            <a:pPr marL="536575" indent="-182563">
              <a:buFont typeface="Wingdings" panose="05000000000000000000" pitchFamily="2" charset="2"/>
              <a:buChar char="Ø"/>
            </a:pPr>
            <a:r>
              <a:rPr lang="ja-JP" altLang="en-US" dirty="0"/>
              <a:t>研修前はプログラミングの文法</a:t>
            </a:r>
            <a:r>
              <a:rPr lang="en-US" altLang="ja-JP" dirty="0"/>
              <a:t>(</a:t>
            </a:r>
            <a:r>
              <a:rPr lang="ja-JP" altLang="en-US" dirty="0"/>
              <a:t>パーツ</a:t>
            </a:r>
            <a:r>
              <a:rPr lang="en-US" altLang="ja-JP" dirty="0"/>
              <a:t>)</a:t>
            </a:r>
            <a:r>
              <a:rPr lang="ja-JP" altLang="en-US" dirty="0"/>
              <a:t>しか知らなかったが、開発演習を通して</a:t>
            </a:r>
            <a:r>
              <a:rPr lang="en-US" altLang="ja-JP" dirty="0"/>
              <a:t>Web</a:t>
            </a:r>
            <a:r>
              <a:rPr lang="ja-JP" altLang="en-US" dirty="0"/>
              <a:t>アプリを作るためのパーツの組み合わせ方を理解できた</a:t>
            </a:r>
            <a:endParaRPr lang="en-US" altLang="ja-JP" dirty="0"/>
          </a:p>
          <a:p>
            <a:pPr>
              <a:buFont typeface="Wingdings" panose="05000000000000000000" pitchFamily="2" charset="2"/>
              <a:buChar char="l"/>
            </a:pPr>
            <a:r>
              <a:rPr kumimoji="1" lang="ja-JP" altLang="en-US" dirty="0"/>
              <a:t>研修を通して感じた点</a:t>
            </a:r>
            <a:endParaRPr kumimoji="1" lang="en-US" altLang="ja-JP" dirty="0"/>
          </a:p>
          <a:p>
            <a:pPr marL="354013" indent="-171450">
              <a:buFont typeface="Arial" panose="020B0604020202020204" pitchFamily="34" charset="0"/>
              <a:buChar char="•"/>
            </a:pPr>
            <a:r>
              <a:rPr lang="en-US" altLang="ja-JP" dirty="0"/>
              <a:t>1</a:t>
            </a:r>
            <a:r>
              <a:rPr lang="ja-JP" altLang="en-US" dirty="0"/>
              <a:t>から自分で設計して開発に取り組むのは楽しかった</a:t>
            </a:r>
            <a:endParaRPr kumimoji="1" lang="en-US" altLang="ja-JP" dirty="0"/>
          </a:p>
          <a:p>
            <a:pPr marL="354013" indent="-171450">
              <a:buFont typeface="Arial" panose="020B0604020202020204" pitchFamily="34" charset="0"/>
              <a:buChar char="•"/>
            </a:pPr>
            <a:r>
              <a:rPr kumimoji="1" lang="ja-JP" altLang="en-US" dirty="0"/>
              <a:t>同じ研修を受けている人が自分</a:t>
            </a:r>
            <a:r>
              <a:rPr lang="ja-JP" altLang="en-US" dirty="0"/>
              <a:t>には無い</a:t>
            </a:r>
            <a:r>
              <a:rPr kumimoji="1" lang="ja-JP" altLang="en-US" dirty="0"/>
              <a:t>視点を持って開発に取り組んでいることがわかった</a:t>
            </a:r>
            <a:endParaRPr kumimoji="1" lang="en-US" altLang="ja-JP" dirty="0"/>
          </a:p>
          <a:p>
            <a:pPr marL="354013" indent="0">
              <a:buFont typeface="Wingdings" panose="05000000000000000000" pitchFamily="2" charset="2"/>
              <a:buChar char="Ø"/>
            </a:pPr>
            <a:r>
              <a:rPr lang="ja-JP" altLang="en-US" dirty="0"/>
              <a:t>今後も周囲の人の良い点は吸収したい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F6329E-8B5F-DB40-3DE1-C9065537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2076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D3D51827-A2CC-C73E-A754-0333A13C67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ja-JP" altLang="en-US" sz="4400" dirty="0"/>
              <a:t>ご清聴ありがとうございました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806FEE8-D2B6-1F32-F992-2124B8B23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0378-51CF-4CB4-B26B-D0506873D852}" type="slidenum">
              <a:rPr kumimoji="1" lang="ja-JP" altLang="en-US" smtClean="0"/>
              <a:t>21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48662205"/>
      </p:ext>
    </p:extLst>
  </p:cSld>
  <p:clrMapOvr>
    <a:masterClrMapping/>
  </p:clrMapOvr>
</p:sld>
</file>

<file path=ppt/theme/theme1.xml><?xml version="1.0" encoding="utf-8"?>
<a:theme xmlns:a="http://schemas.openxmlformats.org/drawingml/2006/main" name="メトロポリタン">
  <a:themeElements>
    <a:clrScheme name="スリップストリーム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メトロポリタン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メトロポリタン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33ACF124-275F-44F2-8DE0-0A755069829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TM03457491[[fn=メトロポリタン]]</Template>
  <TotalTime>224</TotalTime>
  <Words>991</Words>
  <Application>Microsoft Office PowerPoint</Application>
  <PresentationFormat>ワイド画面</PresentationFormat>
  <Paragraphs>213</Paragraphs>
  <Slides>21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6" baseType="lpstr">
      <vt:lpstr>游ゴシック</vt:lpstr>
      <vt:lpstr>Arial</vt:lpstr>
      <vt:lpstr>Calibri Light</vt:lpstr>
      <vt:lpstr>Wingdings</vt:lpstr>
      <vt:lpstr>メトロポリタン</vt:lpstr>
      <vt:lpstr>Webアプリケーション開発演習 成果報告</vt:lpstr>
      <vt:lpstr>目次</vt:lpstr>
      <vt:lpstr>開発スケジュール報告</vt:lpstr>
      <vt:lpstr>開発スケジュール報告</vt:lpstr>
      <vt:lpstr>開発スケジュール報告</vt:lpstr>
      <vt:lpstr>成果物の概要</vt:lpstr>
      <vt:lpstr>成果物の概要</vt:lpstr>
      <vt:lpstr>成果物の概要</vt:lpstr>
      <vt:lpstr>成果物の概要</vt:lpstr>
      <vt:lpstr>成果物の概要</vt:lpstr>
      <vt:lpstr>成果物の概要</vt:lpstr>
      <vt:lpstr>成果物の概要</vt:lpstr>
      <vt:lpstr>成果物の概要</vt:lpstr>
      <vt:lpstr>成果物の概要</vt:lpstr>
      <vt:lpstr>成果物の概要</vt:lpstr>
      <vt:lpstr>成果物の概要</vt:lpstr>
      <vt:lpstr>成果物の概要</vt:lpstr>
      <vt:lpstr>成果物の概要</vt:lpstr>
      <vt:lpstr>得られた成果</vt:lpstr>
      <vt:lpstr>得られた成果</vt:lpstr>
      <vt:lpstr>ご清聴ありがとうございました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opnewemp011</dc:creator>
  <cp:lastModifiedBy>opnewemp011</cp:lastModifiedBy>
  <cp:revision>5</cp:revision>
  <dcterms:created xsi:type="dcterms:W3CDTF">2026-05-28T00:15:50Z</dcterms:created>
  <dcterms:modified xsi:type="dcterms:W3CDTF">2026-05-28T07:44:58Z</dcterms:modified>
</cp:coreProperties>
</file>